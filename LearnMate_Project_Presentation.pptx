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86"/>
  </p:normalViewPr>
  <p:slideViewPr>
    <p:cSldViewPr snapToGrid="0">
      <p:cViewPr varScale="1">
        <p:scale>
          <a:sx n="98" d="100"/>
          <a:sy n="98" d="100"/>
        </p:scale>
        <p:origin x="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github.com/csehackerofficial/learnmat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</a:t>
            </a:r>
            <a:r>
              <a:rPr lang="en-US" dirty="0"/>
              <a:t>Exploring the Power of Agentic AI with IBM Granite and </a:t>
            </a:r>
            <a:r>
              <a:rPr lang="en-US" dirty="0" err="1"/>
              <a:t>LangFlow</a:t>
            </a:r>
            <a:r>
              <a:rPr lang="en-US" dirty="0"/>
              <a:t> - 		</a:t>
            </a:r>
            <a:r>
              <a:rPr lang="en-US" b="1" dirty="0"/>
              <a:t>Project </a:t>
            </a:r>
            <a:r>
              <a:rPr lang="en-US" b="1" dirty="0" err="1"/>
              <a:t>LearnMate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21752183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AAYUSH KUMAR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kumaraayush7501@gmail.com</a:t>
                      </a:r>
                      <a:endParaRPr sz="12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9709629025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>
          <a:blip r:embed="rId3"/>
          <a:srcRect/>
          <a:stretch/>
        </p:blipFill>
        <p:spPr>
          <a:xfrm>
            <a:off x="4135916" y="3738417"/>
            <a:ext cx="826853" cy="88618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>
                <a:highlight>
                  <a:srgbClr val="FFFF00"/>
                </a:highlight>
              </a:rPr>
              <a:t>EdTech / AI in Education.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dirty="0" err="1">
                <a:highlight>
                  <a:srgbClr val="FFFF00"/>
                </a:highlight>
              </a:rPr>
              <a:t>LearnMate</a:t>
            </a:r>
            <a:r>
              <a:rPr lang="en-US" sz="2400" dirty="0">
                <a:highlight>
                  <a:srgbClr val="FFFF00"/>
                </a:highlight>
              </a:rPr>
              <a:t> - Agentic AI for Personalized Course Pathways.</a:t>
            </a:r>
            <a:endParaRPr lang="en-IN" sz="2400" b="1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3930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US" b="1" dirty="0"/>
              <a:t>Problem Statement : Agentic AI for Personalized Course Pathways</a:t>
            </a:r>
          </a:p>
          <a:p>
            <a:pPr algn="just" fontAlgn="base">
              <a:lnSpc>
                <a:spcPct val="150000"/>
              </a:lnSpc>
            </a:pPr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Students often struggle to identify the right learning path that aligns with their interests and long-term goals due to the overwhelming number of online courses and a lack of personalized guidance.</a:t>
            </a:r>
          </a:p>
          <a:p>
            <a:pPr algn="just" fontAlgn="base">
              <a:lnSpc>
                <a:spcPct val="150000"/>
              </a:lnSpc>
            </a:pPr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algn="just" fontAlgn="base">
              <a:lnSpc>
                <a:spcPct val="150000"/>
              </a:lnSpc>
            </a:pPr>
            <a:r>
              <a:rPr lang="en-US" dirty="0" err="1"/>
              <a:t>LearnMate</a:t>
            </a:r>
            <a:r>
              <a:rPr lang="en-US" dirty="0"/>
              <a:t> aims to solve this by acting as an Agentic AI coach that interacts with students, understands their interests (like Frontend Development, Cybersecurity, UI/UX Design, etc.), assesses their current skill level, and dynamically builds a personalized course roadmap. </a:t>
            </a:r>
          </a:p>
          <a:p>
            <a:pPr algn="just">
              <a:lnSpc>
                <a:spcPct val="150000"/>
              </a:lnSpc>
            </a:pPr>
            <a:r>
              <a:rPr lang="en-US" b="1" dirty="0"/>
              <a:t>Multi-Agent System: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•</a:t>
            </a:r>
            <a:r>
              <a:rPr lang="en-IN" dirty="0"/>
              <a:t> </a:t>
            </a:r>
            <a:r>
              <a:rPr lang="en-US" i="1" dirty="0"/>
              <a:t>Skill Assessment Agent</a:t>
            </a:r>
            <a:r>
              <a:rPr lang="en-US" dirty="0"/>
              <a:t> (Evaluates current tech knowledge).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•</a:t>
            </a:r>
            <a:r>
              <a:rPr lang="en-IN" dirty="0"/>
              <a:t> </a:t>
            </a:r>
            <a:r>
              <a:rPr lang="en-US" i="1" dirty="0"/>
              <a:t>Roadmap Generator Agent</a:t>
            </a:r>
            <a:r>
              <a:rPr lang="en-US" dirty="0"/>
              <a:t> (Creates custom step-by-step learning paths).</a:t>
            </a:r>
          </a:p>
          <a:p>
            <a:pPr algn="just">
              <a:lnSpc>
                <a:spcPct val="150000"/>
              </a:lnSpc>
            </a:pPr>
            <a:r>
              <a:rPr lang="en-IN" b="1" dirty="0"/>
              <a:t>•</a:t>
            </a:r>
            <a:r>
              <a:rPr lang="en-IN" dirty="0"/>
              <a:t> </a:t>
            </a:r>
            <a:r>
              <a:rPr lang="en-US" i="1" dirty="0"/>
              <a:t>Progress Tracking Agent</a:t>
            </a:r>
            <a:r>
              <a:rPr lang="en-US" dirty="0"/>
              <a:t> (Monitors module completion and recalibrates).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pPr fontAlgn="base"/>
            <a:r>
              <a:rPr lang="en-IN" b="1" dirty="0"/>
              <a:t>Tech Stack (Mandatory)</a:t>
            </a:r>
            <a:r>
              <a:rPr lang="en-IN" dirty="0"/>
              <a:t> </a:t>
            </a:r>
          </a:p>
          <a:p>
            <a:pPr fontAlgn="base"/>
            <a:r>
              <a:rPr lang="en-IN" dirty="0"/>
              <a:t>Use </a:t>
            </a:r>
            <a:r>
              <a:rPr lang="en-IN" b="1" dirty="0"/>
              <a:t>any one</a:t>
            </a:r>
            <a:r>
              <a:rPr lang="en-IN" dirty="0"/>
              <a:t> of the following approaches: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 err="1"/>
              <a:t>LangFlow</a:t>
            </a:r>
            <a:r>
              <a:rPr lang="en-IN" dirty="0"/>
              <a:t> + IBM watsonx.ai +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IBM Cloud Agentic Lab with IBM Granite Models 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IN" dirty="0"/>
              <a:t>Replicate with </a:t>
            </a:r>
            <a:r>
              <a:rPr lang="en-IN" dirty="0" err="1"/>
              <a:t>LangChain</a:t>
            </a:r>
            <a:r>
              <a:rPr lang="en-IN" dirty="0"/>
              <a:t> + RAG + IBM Granite Models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r>
              <a:rPr lang="en-IN" dirty="0"/>
              <a:t>I used </a:t>
            </a:r>
            <a:r>
              <a:rPr lang="en-IN" dirty="0" err="1">
                <a:highlight>
                  <a:srgbClr val="FFFF00"/>
                </a:highlight>
              </a:rPr>
              <a:t>LangFlow</a:t>
            </a:r>
            <a:r>
              <a:rPr lang="en-IN" dirty="0">
                <a:highlight>
                  <a:srgbClr val="FFFF00"/>
                </a:highlight>
              </a:rPr>
              <a:t> + IBM watsonx.ai + Granite Models </a:t>
            </a:r>
          </a:p>
          <a:p>
            <a:pPr fontAlgn="base"/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10224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 </a:t>
            </a:r>
            <a:r>
              <a:rPr lang="en-IN" sz="2400" dirty="0"/>
              <a:t>AI-Powered Course Pathways (</a:t>
            </a:r>
            <a:r>
              <a:rPr lang="en-IN" sz="2400" dirty="0" err="1"/>
              <a:t>LearnMate</a:t>
            </a:r>
            <a:r>
              <a:rPr lang="en-IN" sz="2400" dirty="0"/>
              <a:t>)</a:t>
            </a:r>
            <a:endParaRPr lang="en-IN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4B2B66-EEED-97AB-F25C-C6537AA9B70F}"/>
              </a:ext>
            </a:extLst>
          </p:cNvPr>
          <p:cNvSpPr txBox="1"/>
          <p:nvPr/>
        </p:nvSpPr>
        <p:spPr>
          <a:xfrm>
            <a:off x="436880" y="1270000"/>
            <a:ext cx="1134872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en-US" dirty="0"/>
              <a:t>The proposed solution is a multi-agent AI-powered learning coach built using </a:t>
            </a:r>
            <a:r>
              <a:rPr lang="en-US" dirty="0" err="1"/>
              <a:t>LangFlow</a:t>
            </a:r>
            <a:r>
              <a:rPr lang="en-US" dirty="0"/>
              <a:t>, IBM watsonx.ai, and Granite Models to provide personalized, real-time educational guidance. The system addresses challenges in syllabus tracking, skill development, and career planning through an intelligent, modular architecture.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At its core, the solution uses a Retrieval-Augmented Generation (RAG) pipeline to fetch accurate syllabus structures, tech-stack prerequisites, and industry trends from trusted educational databases. This data is embedded and stored in a vector database, enabling the system to retrieve and summarize course details using Granite models.</a:t>
            </a:r>
          </a:p>
          <a:p>
            <a:pPr algn="just" fontAlgn="base"/>
            <a:endParaRPr lang="en-US" dirty="0"/>
          </a:p>
          <a:p>
            <a:pPr algn="just"/>
            <a:r>
              <a:rPr lang="en-US" dirty="0"/>
              <a:t>The system consists of four key agents:</a:t>
            </a:r>
          </a:p>
          <a:p>
            <a:pPr algn="just"/>
            <a:r>
              <a:rPr lang="en-IN" b="1" dirty="0"/>
              <a:t>• </a:t>
            </a:r>
            <a:r>
              <a:rPr lang="en-US" b="1" dirty="0"/>
              <a:t>Skill Assessment Agent:</a:t>
            </a:r>
            <a:r>
              <a:rPr lang="en-US" dirty="0"/>
              <a:t> Interacts with the user to evaluate their current knowledge and understands their interests (like Frontend  Development, Cybersecurity, UI/UX Design, etc.). </a:t>
            </a:r>
          </a:p>
          <a:p>
            <a:pPr algn="just" fontAlgn="base"/>
            <a:r>
              <a:rPr lang="en-IN" b="1" dirty="0"/>
              <a:t>• </a:t>
            </a:r>
            <a:r>
              <a:rPr lang="en-US" b="1" dirty="0"/>
              <a:t>Roadmap Generator Agent:</a:t>
            </a:r>
            <a:r>
              <a:rPr lang="en-US" dirty="0"/>
              <a:t> Dynamically builds a personalized course roadmap that adapts over time based on progress and preferences. </a:t>
            </a:r>
          </a:p>
          <a:p>
            <a:pPr algn="just" fontAlgn="base"/>
            <a:r>
              <a:rPr lang="en-IN" b="1" dirty="0"/>
              <a:t>• </a:t>
            </a:r>
            <a:r>
              <a:rPr lang="en-US" b="1" dirty="0"/>
              <a:t>Resource Curator Agent:</a:t>
            </a:r>
            <a:r>
              <a:rPr lang="en-US" dirty="0"/>
              <a:t> Retrieves specific reading materials, documentation, and practical exercises relevant to the current topic.</a:t>
            </a:r>
          </a:p>
          <a:p>
            <a:pPr algn="just" fontAlgn="base"/>
            <a:r>
              <a:rPr lang="en-IN" b="1" dirty="0"/>
              <a:t>• </a:t>
            </a:r>
            <a:r>
              <a:rPr lang="en-US" b="1" dirty="0"/>
              <a:t>Progress Tracking Agent:</a:t>
            </a:r>
            <a:r>
              <a:rPr lang="en-US" dirty="0"/>
              <a:t> Monitors module completion, provides instant feedback, and recalibrates the upcoming syllabus if the learner faces difficulties.</a:t>
            </a:r>
          </a:p>
          <a:p>
            <a:pPr algn="just" fontAlgn="base"/>
            <a:endParaRPr lang="en-US" dirty="0"/>
          </a:p>
          <a:p>
            <a:pPr algn="just"/>
            <a:r>
              <a:rPr lang="en-US" dirty="0"/>
              <a:t>The solution includes a user-friendly dashboard that visualizes the learning roadmap, tracks milestone completion, and highlights areas for skill improvement.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LangFlow</a:t>
            </a:r>
            <a:r>
              <a:rPr lang="en-US" dirty="0"/>
              <a:t> is used to orchestrate agent workflows, while watsonx.ai ensures scalable model deployment, embeddings, and AI governance. Granite models power reasoning, summarization, and personalization. Overall, this solution delivers an end-to-end intelligent educational assistant that promotes continuous learning through dynamic pathways and real-time adaptation.</a:t>
            </a:r>
          </a:p>
          <a:p>
            <a:pPr algn="just" fontAlgn="base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1) Chat Input</a:t>
            </a:r>
            <a:r>
              <a:rPr lang="en-US" dirty="0"/>
              <a:t> - Interface where students enter their current skills, learning goals, or preferred tech stack (e.g., "I know basic HTML/CSS and want to learn Node.js").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</a:t>
            </a:r>
            <a:r>
              <a:rPr lang="en-US" dirty="0"/>
              <a:t> - Processes user input using Granite models to assess skill levels and dynamically generate personalized learning roadmaps.</a:t>
            </a:r>
          </a:p>
          <a:p>
            <a:endParaRPr lang="en-US" dirty="0"/>
          </a:p>
          <a:p>
            <a:r>
              <a:rPr lang="en-US" b="1" dirty="0"/>
              <a:t>3) Name of IBM Granite model</a:t>
            </a:r>
            <a:r>
              <a:rPr lang="en-US" dirty="0"/>
              <a:t> - Granite-4.0-8B-Instruct → Fast, efficient, and highly capable of reasoning and structuring educational pathways.</a:t>
            </a:r>
          </a:p>
          <a:p>
            <a:endParaRPr lang="en-US" dirty="0"/>
          </a:p>
          <a:p>
            <a:r>
              <a:rPr lang="en-US" b="1" dirty="0"/>
              <a:t>4) Chat output</a:t>
            </a:r>
            <a:r>
              <a:rPr lang="en-US" dirty="0"/>
              <a:t> - Displays AI-generated responses such as step-by-step course modules, study plans, and progress feedback.</a:t>
            </a:r>
          </a:p>
          <a:p>
            <a:endParaRPr lang="en-US" dirty="0"/>
          </a:p>
          <a:p>
            <a:r>
              <a:rPr lang="en-US" b="1" dirty="0"/>
              <a:t>5) File Component</a:t>
            </a:r>
            <a:r>
              <a:rPr lang="en-US" dirty="0"/>
              <a:t> - Stores and retrieves course syllabi, user progress logs, and educational datasets for RAG-based analysis.</a:t>
            </a:r>
          </a:p>
          <a:p>
            <a:endParaRPr lang="en-US" dirty="0"/>
          </a:p>
          <a:p>
            <a:r>
              <a:rPr lang="en-US" b="1" dirty="0"/>
              <a:t>6) Prompt Template</a:t>
            </a:r>
            <a:r>
              <a:rPr lang="en-US" dirty="0"/>
              <a:t> - Structures the core instructions to guide the AI, ensuring it acts strictly as an expert educational coach and career mentor.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3590-52D3-DC9D-2C84-E66D9597D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9" y="1066220"/>
            <a:ext cx="11469656" cy="5544892"/>
          </a:xfrm>
          <a:prstGeom prst="rect">
            <a:avLst/>
          </a:prstGeom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9152" y="1071448"/>
            <a:ext cx="10429095" cy="561281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IN" sz="2400" b="1" dirty="0"/>
              <a:t>Architecture Blueprint - </a:t>
            </a:r>
            <a:r>
              <a:rPr lang="en-IN" sz="2400" b="1" dirty="0" err="1"/>
              <a:t>LearnMate</a:t>
            </a:r>
            <a:r>
              <a:rPr lang="en-IN" sz="2400" b="1" dirty="0"/>
              <a:t> AI</a:t>
            </a:r>
            <a:endParaRPr lang="en-US" sz="2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/>
              <a:t>Role of Agentic AI in </a:t>
            </a:r>
            <a:r>
              <a:rPr lang="en-US" b="1" dirty="0" err="1"/>
              <a:t>LearnMate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r>
              <a:rPr lang="en-IN" b="1" dirty="0"/>
              <a:t>• </a:t>
            </a:r>
            <a:r>
              <a:rPr lang="en-US" dirty="0"/>
              <a:t>Agentic AI enables </a:t>
            </a:r>
            <a:r>
              <a:rPr lang="en-US" dirty="0" err="1"/>
              <a:t>LearnMate</a:t>
            </a:r>
            <a:r>
              <a:rPr lang="en-US" dirty="0"/>
              <a:t> to function as an intelligent, autonomous learning coach rather than a static syllabus generator.</a:t>
            </a:r>
          </a:p>
          <a:p>
            <a:pPr algn="just"/>
            <a:endParaRPr lang="en-US" dirty="0"/>
          </a:p>
          <a:p>
            <a:pPr algn="just"/>
            <a:r>
              <a:rPr lang="en-IN" b="1" dirty="0"/>
              <a:t>• </a:t>
            </a:r>
            <a:r>
              <a:rPr lang="en-US" dirty="0"/>
              <a:t>It interacts directly with students to understand their specific interests, such as Frontend Development, Cybersecurity, or UI/UX Design.</a:t>
            </a:r>
          </a:p>
          <a:p>
            <a:pPr algn="just"/>
            <a:endParaRPr lang="en-US" dirty="0"/>
          </a:p>
          <a:p>
            <a:pPr algn="just"/>
            <a:r>
              <a:rPr lang="en-IN" b="1" dirty="0"/>
              <a:t>• </a:t>
            </a:r>
            <a:r>
              <a:rPr lang="en-US" dirty="0"/>
              <a:t>The AI autonomously assesses the user's current skill level and uses this context to dynamically build a personalized course roadmap.</a:t>
            </a:r>
          </a:p>
          <a:p>
            <a:pPr algn="just"/>
            <a:endParaRPr lang="en-US" dirty="0"/>
          </a:p>
          <a:p>
            <a:pPr algn="just"/>
            <a:r>
              <a:rPr lang="en-IN" b="1" dirty="0"/>
              <a:t>• </a:t>
            </a:r>
            <a:r>
              <a:rPr lang="en-US" dirty="0"/>
              <a:t>Instead of following a rigid structure, the multi-agent system adapts the roadmap over time based on the student's progress and evolving preferences.</a:t>
            </a:r>
          </a:p>
          <a:p>
            <a:pPr algn="just"/>
            <a:endParaRPr lang="en-US" dirty="0"/>
          </a:p>
          <a:p>
            <a:pPr algn="just"/>
            <a:r>
              <a:rPr lang="en-IN" b="1" dirty="0"/>
              <a:t>• </a:t>
            </a:r>
            <a:r>
              <a:rPr lang="en-US" dirty="0"/>
              <a:t>This multi-agent approach ensures efficient task execution—one agent evaluates skills, while another curates resources and tracks performance.</a:t>
            </a:r>
          </a:p>
          <a:p>
            <a:pPr algn="just"/>
            <a:endParaRPr lang="en-US" dirty="0"/>
          </a:p>
          <a:p>
            <a:pPr algn="just"/>
            <a:r>
              <a:rPr lang="en-IN" b="1" dirty="0"/>
              <a:t>• </a:t>
            </a:r>
            <a:r>
              <a:rPr lang="en-US" dirty="0"/>
              <a:t>Overall, Agentic AI makes the system proactive and highly tailored, ensuring that students make confident, future-ready decisions with minimal manual intervention.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 For designing and orchestrating multi-agent workflows visually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IBM </a:t>
            </a:r>
            <a:r>
              <a:rPr lang="en-US" sz="1800" b="1" dirty="0" err="1"/>
              <a:t>Grainte</a:t>
            </a:r>
            <a:r>
              <a:rPr lang="en-US" sz="1800" b="1" dirty="0"/>
              <a:t> model </a:t>
            </a:r>
            <a:r>
              <a:rPr lang="en-US" sz="1800" dirty="0"/>
              <a:t>– ( for </a:t>
            </a:r>
            <a:r>
              <a:rPr lang="en-US" sz="1800" dirty="0" err="1"/>
              <a:t>eg</a:t>
            </a:r>
            <a:r>
              <a:rPr lang="en-US" sz="1800" dirty="0"/>
              <a:t> – ibm-granite-3-2-8b ) – For natural language understanding, reasoning, and personalization.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IBM Cloud </a:t>
            </a:r>
            <a:r>
              <a:rPr lang="en-US" sz="1800" dirty="0"/>
              <a:t>– It provides the infrastructure to build, deploy, and scale the </a:t>
            </a:r>
            <a:r>
              <a:rPr lang="en-US" sz="1800" b="1" dirty="0" err="1"/>
              <a:t>LearnMate</a:t>
            </a:r>
            <a:r>
              <a:rPr lang="en-US" sz="1800" dirty="0"/>
              <a:t> AI efficiently. IBM Cloud enables a reliable, secure, and scalable environment for deploying the educational agent.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RAG– </a:t>
            </a:r>
            <a:r>
              <a:rPr lang="en-US" sz="1800" dirty="0"/>
              <a:t>RAG is used to fetch real-time educational data, course syllabi, and tech-stack requirements from trusted databases before generating an intelligent learning path.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/>
              <a:t>IBM Watsonx.ai - </a:t>
            </a:r>
            <a:r>
              <a:rPr lang="en-US" sz="1800" dirty="0"/>
              <a:t>For model deployment, embeddings, and AI governance.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b="1" dirty="0"/>
              <a:t>Vector Database </a:t>
            </a:r>
            <a:r>
              <a:rPr lang="en-IN" sz="1800" dirty="0"/>
              <a:t>(FAISS/Chroma) – </a:t>
            </a:r>
            <a:r>
              <a:rPr lang="en-US" sz="1800" dirty="0"/>
              <a:t>For RAG-based educational data and syllabus retrieval.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algn="just"/>
            <a:endParaRPr lang="en-US" dirty="0"/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946297"/>
            <a:ext cx="1130198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The proposed </a:t>
            </a:r>
            <a:r>
              <a:rPr lang="en-US" sz="1800" dirty="0" err="1"/>
              <a:t>LearnMate</a:t>
            </a:r>
            <a:r>
              <a:rPr lang="en-US" sz="1800" dirty="0"/>
              <a:t> system stands out by combining Agentic AI, RAG, and dynamic personalization into a single intelligent educational coach.</a:t>
            </a:r>
          </a:p>
          <a:p>
            <a:pPr algn="just"/>
            <a:endParaRPr lang="en-US" sz="1800" dirty="0"/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Multi-Agent Intelligence:</a:t>
            </a:r>
            <a:r>
              <a:rPr lang="en-US" sz="1800" dirty="0"/>
              <a:t> Instead of a single chatbot, multiple specialized agents collaborate (e.g., Skill  Assessment, Roadmap Generation) to deliver accurate and context-aware learning pathways.</a:t>
            </a:r>
            <a:endParaRPr lang="en-IN" sz="1800" dirty="0"/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Dynamic Adaptation:</a:t>
            </a:r>
            <a:r>
              <a:rPr lang="en-US" sz="1800" dirty="0"/>
              <a:t> Unlike traditional platforms with static video playlists, the roadmap adapts over time based on the student's progress and changing preferences. </a:t>
            </a:r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RAG-Based Accuracy:</a:t>
            </a:r>
            <a:r>
              <a:rPr lang="en-US" sz="1800" dirty="0"/>
              <a:t> Integrates real-time data retrieval with AI generation, ensuring the syllabus is built on current industry standards and not outdated theories.</a:t>
            </a:r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Hyper-Personalization:</a:t>
            </a:r>
            <a:r>
              <a:rPr lang="en-US" sz="1800" dirty="0"/>
              <a:t> Tailors course roadmaps based on the student's current skill level and specific interests (like Frontend Development, Cybersecurity, UI/UX Design, etc.).</a:t>
            </a:r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Real-Time Feedback Loop:</a:t>
            </a:r>
            <a:r>
              <a:rPr lang="en-US" sz="1800" dirty="0"/>
              <a:t> Continuously recalibrates the upcoming syllabus if a learner faces difficulties with a particular topic, providing a highly supportive learning environment.</a:t>
            </a:r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Goal-Oriented Focus:</a:t>
            </a:r>
            <a:r>
              <a:rPr lang="en-US" sz="1800" dirty="0"/>
              <a:t> Goes beyond basic course suggestions to act as an Agentic AI coach that aligns learning paths with long-term career goals.</a:t>
            </a:r>
          </a:p>
          <a:p>
            <a:pPr algn="just"/>
            <a:r>
              <a:rPr lang="en-IN" sz="1800" b="1" dirty="0"/>
              <a:t>• Scalable &amp; Enterprise-Ready:</a:t>
            </a:r>
            <a:r>
              <a:rPr lang="en-IN" sz="1800" dirty="0"/>
              <a:t> Built on IBM watsonx.ai with IBM Granite models, ensuring reliability, data privacy, and AI governance.</a:t>
            </a:r>
          </a:p>
          <a:p>
            <a:pPr algn="just"/>
            <a:r>
              <a:rPr lang="en-IN" sz="1800" b="1" dirty="0"/>
              <a:t>• </a:t>
            </a:r>
            <a:r>
              <a:rPr lang="en-US" sz="1800" b="1" dirty="0"/>
              <a:t>Continuous Skill Evolution:</a:t>
            </a:r>
            <a:r>
              <a:rPr lang="en-US" sz="1800" dirty="0"/>
              <a:t> Ensures that the learner’s skill set remains relevant by constantly updating the course roadmap with the latest industry trends and in-demand technologies.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/>
              <a:t>GitHub Repository Link &amp; Project Access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IN" sz="2000" b="1" dirty="0"/>
              <a:t>Project URL:</a:t>
            </a:r>
            <a:r>
              <a:rPr lang="en-IN" sz="2000" dirty="0"/>
              <a:t> </a:t>
            </a:r>
            <a:r>
              <a:rPr lang="en-IN" sz="2000" dirty="0">
                <a:hlinkClick r:id="rId3"/>
              </a:rPr>
              <a:t>https://github.com/csehackerofficial/learnmate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2000" b="1" dirty="0"/>
              <a:t>Files Uploaded for Evaluation:</a:t>
            </a:r>
            <a:r>
              <a:rPr lang="en-US" sz="2000" dirty="0"/>
              <a:t> Please find the following mandatory artifacts in the public repository: </a:t>
            </a:r>
          </a:p>
          <a:p>
            <a:pPr marL="457200" lvl="0" indent="-457200">
              <a:lnSpc>
                <a:spcPct val="162162"/>
              </a:lnSpc>
              <a:buClr>
                <a:srgbClr val="2B3541"/>
              </a:buClr>
              <a:buSzPts val="1850"/>
              <a:buAutoNum type="arabicParenR"/>
            </a:pP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app.json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(Exported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Workflow)</a:t>
            </a:r>
          </a:p>
          <a:p>
            <a:pPr marL="457200" lvl="0" indent="-457200">
              <a:lnSpc>
                <a:spcPct val="162162"/>
              </a:lnSpc>
              <a:buClr>
                <a:srgbClr val="2B3541"/>
              </a:buClr>
              <a:buSzPts val="1850"/>
              <a:buAutoNum type="arabicParenR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LearnMate_Problem_Statement.pdf (Project Documentation &amp; Problem Details </a:t>
            </a:r>
          </a:p>
          <a:p>
            <a:pPr marL="457200" lvl="0" indent="-457200">
              <a:lnSpc>
                <a:spcPct val="162162"/>
              </a:lnSpc>
              <a:buClr>
                <a:srgbClr val="2B3541"/>
              </a:buClr>
              <a:buSzPts val="1850"/>
              <a:buAutoNum type="arabicParenR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LearnMate_Project_Presentation.pptx (Final Presentation Slide Deck)</a:t>
            </a:r>
          </a:p>
          <a:p>
            <a:pPr marL="457200" lvl="0" indent="-457200">
              <a:lnSpc>
                <a:spcPct val="162162"/>
              </a:lnSpc>
              <a:buClr>
                <a:srgbClr val="2B3541"/>
              </a:buClr>
              <a:buSzPts val="1850"/>
              <a:buAutoNum type="arabicParenR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src/app.py (Optional Frontend Code)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 algn="just">
              <a:buAutoNum type="arabicPeriod"/>
            </a:pPr>
            <a:r>
              <a:rPr lang="en-US" sz="2000" b="1" dirty="0"/>
              <a:t>Integration with Learning Management Systems &amp; Cognitive Monitoring:</a:t>
            </a:r>
            <a:r>
              <a:rPr lang="en-US" sz="2000" dirty="0"/>
              <a:t> The </a:t>
            </a:r>
            <a:r>
              <a:rPr lang="en-US" sz="2000" dirty="0" err="1"/>
              <a:t>LearnMate</a:t>
            </a:r>
            <a:r>
              <a:rPr lang="en-US" sz="2000" dirty="0"/>
              <a:t> agent can be directly plugged into a college's internal LMS or advanced student monitoring platforms (such as an ASHP tracking system). This allows for deep cognitive monitoring, tracking real-time educational analytics, and dynamically adjusting course difficulty based on live student performance data.</a:t>
            </a:r>
          </a:p>
          <a:p>
            <a:pPr marL="457200" indent="-457200" algn="just">
              <a:buAutoNum type="arabicPeriod"/>
            </a:pPr>
            <a:endParaRPr lang="en-US" sz="2000" dirty="0"/>
          </a:p>
          <a:p>
            <a:pPr marL="457200" indent="-457200" algn="just">
              <a:buAutoNum type="arabicPeriod"/>
            </a:pPr>
            <a:r>
              <a:rPr lang="en-US" sz="2000" b="1" dirty="0"/>
              <a:t>Real-Time Developer API &amp; IDE Integration:</a:t>
            </a:r>
            <a:r>
              <a:rPr lang="en-US" sz="2000" dirty="0"/>
              <a:t> Future versions could integrate directly into code editors (like VS Code) or custom Node.js architectures. This would allow the AI to monitor a developer's logic-building in real-time and provide immediate, context-aware learning resources and documentation exactly when they are stuck on a specific tech-stack problem.</a:t>
            </a: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 fontAlgn="base">
          <a:defRPr b="1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1443</Words>
  <Application>Microsoft Office PowerPoint</Application>
  <PresentationFormat>Widescreen</PresentationFormat>
  <Paragraphs>123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Aayush Kumar</cp:lastModifiedBy>
  <cp:revision>23</cp:revision>
  <dcterms:created xsi:type="dcterms:W3CDTF">2025-07-08T05:06:56Z</dcterms:created>
  <dcterms:modified xsi:type="dcterms:W3CDTF">2026-06-08T11:11:13Z</dcterms:modified>
</cp:coreProperties>
</file>